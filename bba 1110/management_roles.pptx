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4" r:id="rId9"/>
    <p:sldId id="263" r:id="rId10"/>
    <p:sldId id="262" r:id="rId11"/>
  </p:sldIdLst>
  <p:sldSz cx="9144000" cy="6858000" type="screen4x3"/>
  <p:notesSz cx="6858000" cy="9144000"/>
  <p:defaultTextStyle>
    <a:defPPr>
      <a:defRPr lang="en-CA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handoutMaster" Target="handoutMasters/handout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48EFECB-8D5B-7BD4-8052-C26EF5F0E4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r>
              <a:rPr lang="en-CA" altLang="en-US"/>
              <a:t>MANAGEMENT ROLES AND SKILLS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85D59F1-7B9F-B3FE-0286-B544EAB35F2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7C9CE40F-C6A7-2662-48BB-A7275471A32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8280462B-F4FE-6AD9-BC86-A3C841279D7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F2200C1-A532-447A-ACFF-2BC38F20CA45}" type="slidenum">
              <a:rPr lang="en-CA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29E11A4-F166-E319-7B6E-ED7B00F651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r>
              <a:rPr lang="en-CA" altLang="en-US"/>
              <a:t>MANAGEMENT ROLES AND SKILLS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F5B8325-7576-753A-3CC0-1B02F246D68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ABC7294-9055-23E9-E6D3-58558E0883C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1E0ACBB2-8CDA-3AF7-6958-9AEE52697D3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en-US" noProof="0"/>
              <a:t>Click to edit Master text styles</a:t>
            </a:r>
          </a:p>
          <a:p>
            <a:pPr lvl="1"/>
            <a:r>
              <a:rPr lang="en-CA" altLang="en-US" noProof="0"/>
              <a:t>Second level</a:t>
            </a:r>
          </a:p>
          <a:p>
            <a:pPr lvl="2"/>
            <a:r>
              <a:rPr lang="en-CA" altLang="en-US" noProof="0"/>
              <a:t>Third level</a:t>
            </a:r>
          </a:p>
          <a:p>
            <a:pPr lvl="3"/>
            <a:r>
              <a:rPr lang="en-CA" altLang="en-US" noProof="0"/>
              <a:t>Fourth level</a:t>
            </a:r>
          </a:p>
          <a:p>
            <a:pPr lvl="4"/>
            <a:r>
              <a:rPr lang="en-CA" altLang="en-US" noProof="0"/>
              <a:t>Fifth level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1F73E8A4-F7F2-56E0-7970-47B6A59E9EE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4C1B4728-E401-B08B-E66E-55D4E6CC81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35ADA6D-F3E5-4FB6-9717-FDF98438414C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7538578-48C3-DD50-8BAF-587E05D153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CA" altLang="en-US"/>
              <a:t>MANAGEMENT ROLES AND SKILLS</a:t>
            </a:r>
          </a:p>
        </p:txBody>
      </p:sp>
      <p:sp>
        <p:nvSpPr>
          <p:cNvPr id="5123" name="Rectangle 7">
            <a:extLst>
              <a:ext uri="{FF2B5EF4-FFF2-40B4-BE49-F238E27FC236}">
                <a16:creationId xmlns:a16="http://schemas.microsoft.com/office/drawing/2014/main" id="{658BDA01-6129-C359-C9FD-D240C6248E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61D50AF-4280-4663-9147-B4C868981920}" type="slidenum">
              <a:rPr lang="en-CA" altLang="en-US"/>
              <a:pPr/>
              <a:t>1</a:t>
            </a:fld>
            <a:endParaRPr lang="en-CA" altLang="en-US"/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CD00148F-1F72-11CD-9841-FFA606B79F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9906035C-4343-EA5A-0B0A-A521BEC59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32C224C-7274-5D5D-7D89-1E158E0C5B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7C2D638-1873-E907-F282-3D88F06588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7518B3F-9930-C786-3E9F-6DF7D2C60D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A0D64E-EB46-48CC-AFDB-D376A92EAA6E}" type="slidenum">
              <a:rPr lang="en-CA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851413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206421-0BD1-583F-7676-1AB602D4F3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E358B7-20BA-D09A-79A8-43AEA7D09F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867BD85-098C-C9EE-AC32-76BDA44929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98944F-6D68-4B7E-BA11-B3E336FBE273}" type="slidenum">
              <a:rPr lang="en-CA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041137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1EF7EE9-BC32-41C1-F980-FCF38C3962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4B46699-26E9-5E63-6C3A-C7FC6AB205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6F5AC9-D1E9-7950-50E9-E9F7A3B54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17E4D8-48F2-4939-BD0B-836EE9753AB3}" type="slidenum">
              <a:rPr lang="en-CA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685036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6D4147-0EB3-1211-1DD8-49CE0ECD73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00B693-0612-2908-B2D6-BA922B4D27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9BFCB9-265E-429D-6157-F5B411613B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A24D32-A2A1-4092-A357-E663B81FF49A}" type="slidenum">
              <a:rPr lang="en-CA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166807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D6BFE59-CB99-9E26-5C2B-4E2FA7A288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757F7CD-68DF-527D-BC37-275AFBE56E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E13FA7C-700E-283E-3BA6-78A1A2BC82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97D138-6D26-482D-87EE-065FE2E636E8}" type="slidenum">
              <a:rPr lang="en-CA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346972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56D8F59-ACD7-5E42-8A8B-30562CADB7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238DF3D-9EFC-A05C-4252-FEE6DD486F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170237-0206-CAB4-3AF1-3506854FA2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C34391-218D-49A3-A112-CCD95551BFA5}" type="slidenum">
              <a:rPr lang="en-CA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50358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6872FE8-7C7F-5BC5-F857-217AE6C125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4FB04D3-0A27-665C-AE30-FF88095931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B04332-8026-3078-7B36-1994ABEE1D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2A2322-5E37-4D4A-BDF7-AE1CC49790D1}" type="slidenum">
              <a:rPr lang="en-CA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22485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D0127-0792-A3A7-E8FC-9F0144E7EB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6FA4A-2013-51A3-2FF5-80159388F7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59F655-A92C-AC34-B6CC-99FE9E8999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ABA28F-CE8D-4B97-AB93-C621D47DFD79}" type="slidenum">
              <a:rPr lang="en-CA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71872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A2E1C0-6940-B76B-5A3C-521220BF9D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EB1F37-0D5D-722C-9EC2-28DDE6A0F9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842FAD-4F2E-F2A6-785D-95B96F19B6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B68996-7B30-43E3-B53D-40F546BA0296}" type="slidenum">
              <a:rPr lang="en-CA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065715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9CBDD0-5E96-6CEB-FA38-0E51DCDE6E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47EE4A-9675-0BE7-11B1-BDC8CE911D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8D7951-F1B9-C163-AEC9-142A84CA26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68ED9B-84CC-4622-A376-27E9ECF20800}" type="slidenum">
              <a:rPr lang="en-CA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250866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D2A5F1-23EA-34BA-91E1-5558EB395E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6E8A0E-ADCE-8E59-43A5-6BC9B4E1B0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B0EE9DB-5B10-3632-3B50-FF70E135D6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EB2646-0B47-4441-9D56-96CAE53F987F}" type="slidenum">
              <a:rPr lang="en-CA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987787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e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29A8735-AA32-59A0-B3B0-23049558A1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DA02F10-6B9D-094D-5EB3-467EC96CFA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en-US"/>
              <a:t>Click to edit Master text styles</a:t>
            </a:r>
          </a:p>
          <a:p>
            <a:pPr lvl="1"/>
            <a:r>
              <a:rPr lang="en-CA" altLang="en-US"/>
              <a:t>Second level</a:t>
            </a:r>
          </a:p>
          <a:p>
            <a:pPr lvl="2"/>
            <a:r>
              <a:rPr lang="en-CA" altLang="en-US"/>
              <a:t>Third level</a:t>
            </a:r>
          </a:p>
          <a:p>
            <a:pPr lvl="3"/>
            <a:r>
              <a:rPr lang="en-CA" altLang="en-US"/>
              <a:t>Fourth level</a:t>
            </a:r>
          </a:p>
          <a:p>
            <a:pPr lvl="4"/>
            <a:r>
              <a:rPr lang="en-CA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3FC0966-D911-E0B2-3AC8-BDF04032DAA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A6BC0AB-BB77-F8B9-5586-3C0B9DE7A91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E5FA1E7-4D03-101E-5B1C-EC0B87A9C92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77E9357E-3C52-4B29-91BD-2DE9D4209DB0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4EA642A-38B6-501B-4CA9-3D3334BB5FA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68313" y="2130425"/>
            <a:ext cx="7989887" cy="2162175"/>
          </a:xfrm>
        </p:spPr>
        <p:txBody>
          <a:bodyPr anchor="ctr"/>
          <a:lstStyle/>
          <a:p>
            <a:pPr eaLnBrk="1" hangingPunct="1"/>
            <a:r>
              <a:rPr lang="en-CA" altLang="en-US" sz="4400"/>
              <a:t>MANAGEMENT ROLES</a:t>
            </a:r>
            <a:br>
              <a:rPr lang="en-CA" altLang="en-US" sz="4400"/>
            </a:br>
            <a:r>
              <a:rPr lang="en-CA" altLang="en-US" sz="4400"/>
              <a:t>and</a:t>
            </a:r>
            <a:br>
              <a:rPr lang="en-CA" altLang="en-US" sz="4400"/>
            </a:br>
            <a:r>
              <a:rPr lang="en-CA" altLang="en-US" sz="4400"/>
              <a:t>SKILLS</a:t>
            </a:r>
          </a:p>
        </p:txBody>
      </p:sp>
      <p:pic>
        <p:nvPicPr>
          <p:cNvPr id="4099" name="Picture 5" descr="MCj00786260000[1]">
            <a:extLst>
              <a:ext uri="{FF2B5EF4-FFF2-40B4-BE49-F238E27FC236}">
                <a16:creationId xmlns:a16="http://schemas.microsoft.com/office/drawing/2014/main" id="{2148E46A-AD5C-3F83-1AF0-399D63CFF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650" y="3105150"/>
            <a:ext cx="2673350" cy="375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>
            <a:extLst>
              <a:ext uri="{FF2B5EF4-FFF2-40B4-BE49-F238E27FC236}">
                <a16:creationId xmlns:a16="http://schemas.microsoft.com/office/drawing/2014/main" id="{BE06FE38-B0A2-688D-50F2-988CFD205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97B4CD6-196A-42D9-A16A-A856244DF31A}" type="slidenum">
              <a:rPr lang="en-CA" altLang="en-US"/>
              <a:pPr/>
              <a:t>2</a:t>
            </a:fld>
            <a:endParaRPr lang="en-CA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B43A2EB5-C4A7-4B75-A6E8-C3FCF0B5B4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Define “role”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66864ACD-BFDB-0A67-5164-0E09F55077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A role is a set of </a:t>
            </a:r>
            <a:r>
              <a:rPr lang="en-CA" altLang="en-US" u="sng"/>
              <a:t>behaviours</a:t>
            </a:r>
            <a:r>
              <a:rPr lang="en-CA" altLang="en-US"/>
              <a:t> associated with a particular job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3E0BE368-82EF-0B2F-A931-87614174B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F0E73AB-6BD5-435E-943F-72E57FADFDD1}" type="slidenum">
              <a:rPr lang="en-CA" altLang="en-US"/>
              <a:pPr/>
              <a:t>3</a:t>
            </a:fld>
            <a:endParaRPr lang="en-CA" altLang="en-US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6273793-8089-59D1-BCD2-7722F1432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 w="28575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CA" altLang="en-US"/>
              <a:t>Mintzberg’s Managerial Roles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E627D6C-CADF-FF7A-8C6D-575A2729B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Blip>
                <a:blip r:embed="rId2"/>
              </a:buBlip>
            </a:pPr>
            <a:r>
              <a:rPr lang="en-CA" altLang="en-US"/>
              <a:t>Henry Mintzberg studied CEOs at work and created a scheme to define </a:t>
            </a:r>
            <a:r>
              <a:rPr lang="en-CA" altLang="en-US" u="sng"/>
              <a:t>what managers do on the job</a:t>
            </a:r>
            <a:r>
              <a:rPr lang="en-CA" altLang="en-US"/>
              <a:t>.  These are commonly referred to as </a:t>
            </a:r>
            <a:r>
              <a:rPr lang="en-CA" altLang="en-US" i="1"/>
              <a:t>Mintzberg’s managerial roles.</a:t>
            </a:r>
          </a:p>
          <a:p>
            <a:pPr eaLnBrk="1" hangingPunct="1">
              <a:buFontTx/>
              <a:buBlip>
                <a:blip r:embed="rId2"/>
              </a:buBlip>
            </a:pPr>
            <a:r>
              <a:rPr lang="en-CA" altLang="en-US"/>
              <a:t>These can be grouped into </a:t>
            </a:r>
            <a:r>
              <a:rPr lang="en-CA" altLang="en-US" u="sng"/>
              <a:t>three</a:t>
            </a:r>
            <a:r>
              <a:rPr lang="en-CA" altLang="en-US"/>
              <a:t> primary headings:  </a:t>
            </a:r>
            <a:r>
              <a:rPr lang="en-CA" altLang="en-US" i="1"/>
              <a:t>interpersonal, informational and decisional</a:t>
            </a:r>
          </a:p>
        </p:txBody>
      </p:sp>
      <p:pic>
        <p:nvPicPr>
          <p:cNvPr id="7173" name="Picture 5" descr="photo2">
            <a:extLst>
              <a:ext uri="{FF2B5EF4-FFF2-40B4-BE49-F238E27FC236}">
                <a16:creationId xmlns:a16="http://schemas.microsoft.com/office/drawing/2014/main" id="{30A5967F-90BA-097B-230B-5B6610FC4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5148263"/>
            <a:ext cx="1254125" cy="170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>
            <a:extLst>
              <a:ext uri="{FF2B5EF4-FFF2-40B4-BE49-F238E27FC236}">
                <a16:creationId xmlns:a16="http://schemas.microsoft.com/office/drawing/2014/main" id="{A687203C-AA60-C878-16C2-A83DCB266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746D533-6975-43D3-A430-E54F4B0A9AFD}" type="slidenum">
              <a:rPr lang="en-CA" altLang="en-US"/>
              <a:pPr/>
              <a:t>4</a:t>
            </a:fld>
            <a:endParaRPr lang="en-CA" altLang="en-US"/>
          </a:p>
        </p:txBody>
      </p:sp>
      <p:graphicFrame>
        <p:nvGraphicFramePr>
          <p:cNvPr id="4250" name="Group 154">
            <a:extLst>
              <a:ext uri="{FF2B5EF4-FFF2-40B4-BE49-F238E27FC236}">
                <a16:creationId xmlns:a16="http://schemas.microsoft.com/office/drawing/2014/main" id="{DBF93C36-0E30-585F-80AB-8AF0C084D148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981075"/>
          <a:ext cx="8713787" cy="5603875"/>
        </p:xfrm>
        <a:graphic>
          <a:graphicData uri="http://schemas.openxmlformats.org/drawingml/2006/table">
            <a:tbl>
              <a:tblPr/>
              <a:tblGrid>
                <a:gridCol w="1668462">
                  <a:extLst>
                    <a:ext uri="{9D8B030D-6E8A-4147-A177-3AD203B41FA5}">
                      <a16:colId xmlns:a16="http://schemas.microsoft.com/office/drawing/2014/main" val="3949906872"/>
                    </a:ext>
                  </a:extLst>
                </a:gridCol>
                <a:gridCol w="4140200">
                  <a:extLst>
                    <a:ext uri="{9D8B030D-6E8A-4147-A177-3AD203B41FA5}">
                      <a16:colId xmlns:a16="http://schemas.microsoft.com/office/drawing/2014/main" val="4105449258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1190604153"/>
                    </a:ext>
                  </a:extLst>
                </a:gridCol>
              </a:tblGrid>
              <a:tr h="701000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INTERPERSONAL</a:t>
                      </a:r>
                      <a:endParaRPr kumimoji="0" lang="en-CA" altLang="en-US" sz="4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7" marB="45717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303305"/>
                  </a:ext>
                </a:extLst>
              </a:tr>
              <a:tr h="4016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Role</a:t>
                      </a:r>
                      <a:endParaRPr kumimoji="0" lang="en-CA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7" marB="45717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kumimoji="0" lang="en-CA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Identifiable Activity</a:t>
                      </a:r>
                      <a:endParaRPr kumimoji="0" lang="en-CA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785314"/>
                  </a:ext>
                </a:extLst>
              </a:tr>
              <a:tr h="16153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Figurehead</a:t>
                      </a:r>
                      <a:endParaRPr kumimoji="0" lang="en-CA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7" marB="45717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Manager serves as an official representative of the organization or unit</a:t>
                      </a:r>
                      <a:endParaRPr kumimoji="0" lang="en-CA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Greeting visitors, signing legal documents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Officiating ceremonies</a:t>
                      </a:r>
                      <a:endParaRPr kumimoji="0" lang="en-CA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075410"/>
                  </a:ext>
                </a:extLst>
              </a:tr>
              <a:tr h="10794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Leader</a:t>
                      </a:r>
                      <a:endParaRPr kumimoji="0" lang="en-CA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7" marB="45717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Manager guides and motivates staff and acts as a positive influence in the workplace</a:t>
                      </a:r>
                      <a:endParaRPr kumimoji="0" lang="en-CA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Staffing, training, creating an enabling environment</a:t>
                      </a:r>
                      <a:endParaRPr kumimoji="0" lang="en-CA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811109"/>
                  </a:ext>
                </a:extLst>
              </a:tr>
              <a:tr h="180647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Liaison</a:t>
                      </a:r>
                      <a:endParaRPr kumimoji="0" lang="en-CA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7" marB="45717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Manager interacts with peers and with people outside the organization to gain information</a:t>
                      </a:r>
                      <a:endParaRPr kumimoji="0" lang="en-CA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Acknowledging mail/email; serving on boards; performing activities that involve outsiders</a:t>
                      </a:r>
                      <a:endParaRPr kumimoji="0" lang="en-CA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17" marB="45717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241351"/>
                  </a:ext>
                </a:extLst>
              </a:tr>
            </a:tbl>
          </a:graphicData>
        </a:graphic>
      </p:graphicFrame>
      <p:pic>
        <p:nvPicPr>
          <p:cNvPr id="8219" name="Picture 153" descr="MCj02942340000[1]">
            <a:extLst>
              <a:ext uri="{FF2B5EF4-FFF2-40B4-BE49-F238E27FC236}">
                <a16:creationId xmlns:a16="http://schemas.microsoft.com/office/drawing/2014/main" id="{0D0DBD5A-9731-9F1D-0249-D4B8EA20A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88913"/>
            <a:ext cx="1038225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>
            <a:extLst>
              <a:ext uri="{FF2B5EF4-FFF2-40B4-BE49-F238E27FC236}">
                <a16:creationId xmlns:a16="http://schemas.microsoft.com/office/drawing/2014/main" id="{ED47689B-B164-5766-7AB7-C68B28E8E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248B685-9888-46D9-ABE5-39B9A957A91C}" type="slidenum">
              <a:rPr lang="en-CA" altLang="en-US"/>
              <a:pPr/>
              <a:t>5</a:t>
            </a:fld>
            <a:endParaRPr lang="en-CA" altLang="en-US"/>
          </a:p>
        </p:txBody>
      </p:sp>
      <p:graphicFrame>
        <p:nvGraphicFramePr>
          <p:cNvPr id="5283" name="Group 163">
            <a:extLst>
              <a:ext uri="{FF2B5EF4-FFF2-40B4-BE49-F238E27FC236}">
                <a16:creationId xmlns:a16="http://schemas.microsoft.com/office/drawing/2014/main" id="{2A397364-6ACF-DE29-4533-820437D6482A}"/>
              </a:ext>
            </a:extLst>
          </p:cNvPr>
          <p:cNvGraphicFramePr>
            <a:graphicFrameLocks noGrp="1"/>
          </p:cNvGraphicFramePr>
          <p:nvPr/>
        </p:nvGraphicFramePr>
        <p:xfrm>
          <a:off x="323850" y="1196975"/>
          <a:ext cx="8424863" cy="5054600"/>
        </p:xfrm>
        <a:graphic>
          <a:graphicData uri="http://schemas.openxmlformats.org/drawingml/2006/table">
            <a:tbl>
              <a:tblPr/>
              <a:tblGrid>
                <a:gridCol w="2016125">
                  <a:extLst>
                    <a:ext uri="{9D8B030D-6E8A-4147-A177-3AD203B41FA5}">
                      <a16:colId xmlns:a16="http://schemas.microsoft.com/office/drawing/2014/main" val="5624096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484769527"/>
                    </a:ext>
                  </a:extLst>
                </a:gridCol>
                <a:gridCol w="2808288">
                  <a:extLst>
                    <a:ext uri="{9D8B030D-6E8A-4147-A177-3AD203B41FA5}">
                      <a16:colId xmlns:a16="http://schemas.microsoft.com/office/drawing/2014/main" val="3943980902"/>
                    </a:ext>
                  </a:extLst>
                </a:gridCol>
              </a:tblGrid>
              <a:tr h="700952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INFORMATIONAL </a:t>
                      </a:r>
                      <a:endParaRPr kumimoji="0" lang="en-CA" altLang="en-US" sz="4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903040"/>
                  </a:ext>
                </a:extLst>
              </a:tr>
              <a:tr h="4222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Role</a:t>
                      </a:r>
                      <a:endParaRPr kumimoji="0" lang="en-CA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kumimoji="0" lang="en-CA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Identifiable Activity</a:t>
                      </a:r>
                      <a:endParaRPr kumimoji="0" lang="en-CA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526869"/>
                  </a:ext>
                </a:extLst>
              </a:tr>
              <a:tr h="1310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Monitor</a:t>
                      </a:r>
                      <a:endParaRPr kumimoji="0" lang="en-CA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Manager receives and collects information</a:t>
                      </a:r>
                      <a:endParaRPr kumimoji="0" lang="en-CA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Reading magazines and reports; maintaining personal contacts</a:t>
                      </a:r>
                      <a:endParaRPr kumimoji="0" lang="en-CA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573692"/>
                  </a:ext>
                </a:extLst>
              </a:tr>
              <a:tr h="1310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 Disseminator</a:t>
                      </a:r>
                      <a:endParaRPr kumimoji="0" lang="en-CA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Manager distributes information within the organization</a:t>
                      </a:r>
                      <a:endParaRPr kumimoji="0" lang="en-CA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Holding meetings; making phone calls to relay information; email/memos</a:t>
                      </a:r>
                      <a:endParaRPr kumimoji="0" lang="en-CA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882245"/>
                  </a:ext>
                </a:extLst>
              </a:tr>
              <a:tr h="1310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Spokesperson</a:t>
                      </a:r>
                      <a:endParaRPr kumimoji="0" lang="en-CA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Manager distributes information outside the organization</a:t>
                      </a:r>
                      <a:endParaRPr kumimoji="0" lang="en-CA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Holding board meetings; giving information to the media</a:t>
                      </a:r>
                      <a:endParaRPr kumimoji="0" lang="en-CA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643770"/>
                  </a:ext>
                </a:extLst>
              </a:tr>
            </a:tbl>
          </a:graphicData>
        </a:graphic>
      </p:graphicFrame>
      <p:pic>
        <p:nvPicPr>
          <p:cNvPr id="9243" name="Picture 161" descr="MCj02990630000[1]">
            <a:extLst>
              <a:ext uri="{FF2B5EF4-FFF2-40B4-BE49-F238E27FC236}">
                <a16:creationId xmlns:a16="http://schemas.microsoft.com/office/drawing/2014/main" id="{26C2793E-6347-A4C4-887A-078A368F8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260350"/>
            <a:ext cx="1287462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>
            <a:extLst>
              <a:ext uri="{FF2B5EF4-FFF2-40B4-BE49-F238E27FC236}">
                <a16:creationId xmlns:a16="http://schemas.microsoft.com/office/drawing/2014/main" id="{5AD993F0-9B76-0105-2257-70221084E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C3914E0-2CC8-4BAD-9990-8EB073D9BBE4}" type="slidenum">
              <a:rPr lang="en-CA" altLang="en-US"/>
              <a:pPr/>
              <a:t>6</a:t>
            </a:fld>
            <a:endParaRPr lang="en-CA" altLang="en-US"/>
          </a:p>
        </p:txBody>
      </p:sp>
      <p:graphicFrame>
        <p:nvGraphicFramePr>
          <p:cNvPr id="6328" name="Group 184">
            <a:extLst>
              <a:ext uri="{FF2B5EF4-FFF2-40B4-BE49-F238E27FC236}">
                <a16:creationId xmlns:a16="http://schemas.microsoft.com/office/drawing/2014/main" id="{DFCAF32C-5BE8-9735-2E1B-9DB04515C2E8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260350"/>
          <a:ext cx="8497887" cy="6188075"/>
        </p:xfrm>
        <a:graphic>
          <a:graphicData uri="http://schemas.openxmlformats.org/drawingml/2006/table">
            <a:tbl>
              <a:tblPr/>
              <a:tblGrid>
                <a:gridCol w="1873250">
                  <a:extLst>
                    <a:ext uri="{9D8B030D-6E8A-4147-A177-3AD203B41FA5}">
                      <a16:colId xmlns:a16="http://schemas.microsoft.com/office/drawing/2014/main" val="4260061269"/>
                    </a:ext>
                  </a:extLst>
                </a:gridCol>
                <a:gridCol w="3792537">
                  <a:extLst>
                    <a:ext uri="{9D8B030D-6E8A-4147-A177-3AD203B41FA5}">
                      <a16:colId xmlns:a16="http://schemas.microsoft.com/office/drawing/2014/main" val="3206819056"/>
                    </a:ext>
                  </a:extLst>
                </a:gridCol>
                <a:gridCol w="2832100">
                  <a:extLst>
                    <a:ext uri="{9D8B030D-6E8A-4147-A177-3AD203B41FA5}">
                      <a16:colId xmlns:a16="http://schemas.microsoft.com/office/drawing/2014/main" val="3097403189"/>
                    </a:ext>
                  </a:extLst>
                </a:gridCol>
              </a:tblGrid>
              <a:tr h="701112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DECISIONAL</a:t>
                      </a:r>
                      <a:endParaRPr kumimoji="0" lang="en-CA" altLang="en-US" sz="5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019354"/>
                  </a:ext>
                </a:extLst>
              </a:tr>
              <a:tr h="39628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Role</a:t>
                      </a:r>
                      <a:endParaRPr kumimoji="0" lang="en-CA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kumimoji="0" lang="en-CA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Identifiable Activity</a:t>
                      </a:r>
                      <a:endParaRPr kumimoji="0" lang="en-CA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544583"/>
                  </a:ext>
                </a:extLst>
              </a:tr>
              <a:tr h="1463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Entrepreneur</a:t>
                      </a:r>
                      <a:endParaRPr kumimoji="0" lang="en-CA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Manager initiates change/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exploiting opportunities or solving problems and taking actions to improve the existing situation. </a:t>
                      </a:r>
                      <a:endParaRPr kumimoji="0" lang="en-CA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Organizing sessions to develop new programs; supervises design of projects</a:t>
                      </a:r>
                      <a:endParaRPr kumimoji="0" lang="en-CA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478578"/>
                  </a:ext>
                </a:extLst>
              </a:tr>
              <a:tr h="1310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Disturbance Handler</a:t>
                      </a:r>
                      <a:endParaRPr kumimoji="0" lang="en-CA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Manager decides how conflicts between subordinates should be resolved</a:t>
                      </a:r>
                      <a:endParaRPr kumimoji="0" lang="en-CA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Steps in when an employee suddenly leaves or an important customer is lost</a:t>
                      </a:r>
                      <a:endParaRPr kumimoji="0" lang="en-CA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517394"/>
                  </a:ext>
                </a:extLst>
              </a:tr>
              <a:tr h="100594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Resource Allocator</a:t>
                      </a:r>
                      <a:endParaRPr kumimoji="0" lang="en-CA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Manager decides how the organization will use its resources</a:t>
                      </a:r>
                      <a:endParaRPr kumimoji="0" lang="en-CA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Scheduling; requesting authorization; budgeting</a:t>
                      </a:r>
                      <a:endParaRPr kumimoji="0" lang="en-CA" alt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469261"/>
                  </a:ext>
                </a:extLst>
              </a:tr>
              <a:tr h="13107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Negotiator</a:t>
                      </a:r>
                      <a:endParaRPr kumimoji="0" lang="en-CA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Manager decides to negotiate major contracts with other organizations or individuals</a:t>
                      </a:r>
                      <a:endParaRPr kumimoji="0" lang="en-CA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  <a:cs typeface="Times New Roman" panose="02020603050405020304" pitchFamily="18" charset="0"/>
                        </a:rPr>
                        <a:t>Participating in union contract negotiations or in those with suppliers</a:t>
                      </a:r>
                      <a:endParaRPr kumimoji="0" lang="en-CA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57105"/>
                  </a:ext>
                </a:extLst>
              </a:tr>
            </a:tbl>
          </a:graphicData>
        </a:graphic>
      </p:graphicFrame>
      <p:pic>
        <p:nvPicPr>
          <p:cNvPr id="10271" name="Picture 181" descr="MCj04344110000[1]">
            <a:extLst>
              <a:ext uri="{FF2B5EF4-FFF2-40B4-BE49-F238E27FC236}">
                <a16:creationId xmlns:a16="http://schemas.microsoft.com/office/drawing/2014/main" id="{415BCFDE-0539-2C4B-565F-883A37343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0"/>
            <a:ext cx="871538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230FB1B5-D5D3-74A4-980E-37F8A63C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F6B0E33-6DB3-4F73-A821-E35564793015}" type="slidenum">
              <a:rPr lang="en-CA" altLang="en-US"/>
              <a:pPr/>
              <a:t>7</a:t>
            </a:fld>
            <a:endParaRPr lang="en-CA" altLang="en-US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3704F3F2-E64B-46CE-7CC6-CE39A435A1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 w="19050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CA" altLang="en-US"/>
              <a:t>MANAGEMENT SKILLS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AC1B479-D634-BD91-D954-038D1F69A9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Blip>
                <a:blip r:embed="rId2"/>
              </a:buBlip>
              <a:defRPr/>
            </a:pPr>
            <a:r>
              <a:rPr lang="en-CA" altLang="en-US" dirty="0"/>
              <a:t>What are the critical skills that are related to managerial competence?</a:t>
            </a:r>
          </a:p>
          <a:p>
            <a:pPr eaLnBrk="1" hangingPunct="1">
              <a:lnSpc>
                <a:spcPct val="90000"/>
              </a:lnSpc>
              <a:buFontTx/>
              <a:buBlip>
                <a:blip r:embed="rId2"/>
              </a:buBlip>
              <a:defRPr/>
            </a:pPr>
            <a:r>
              <a:rPr lang="en-CA" altLang="en-US" dirty="0"/>
              <a:t>Generally speaking, effective managers must be proficient in three major skill areas:</a:t>
            </a:r>
          </a:p>
          <a:p>
            <a:pPr lvl="1" eaLnBrk="1" hangingPunct="1">
              <a:lnSpc>
                <a:spcPct val="90000"/>
              </a:lnSpc>
              <a:buFontTx/>
              <a:buBlip>
                <a:blip r:embed="rId3"/>
              </a:buBlip>
              <a:defRPr/>
            </a:pPr>
            <a:r>
              <a:rPr lang="en-CA" altLang="en-US" dirty="0"/>
              <a:t>Conceptual</a:t>
            </a:r>
          </a:p>
          <a:p>
            <a:pPr lvl="1" eaLnBrk="1" hangingPunct="1">
              <a:lnSpc>
                <a:spcPct val="90000"/>
              </a:lnSpc>
              <a:buFontTx/>
              <a:buBlip>
                <a:blip r:embed="rId3"/>
              </a:buBlip>
              <a:defRPr/>
            </a:pPr>
            <a:r>
              <a:rPr lang="en-CA" altLang="en-US" dirty="0"/>
              <a:t>Interpersonal</a:t>
            </a:r>
          </a:p>
          <a:p>
            <a:pPr lvl="1" eaLnBrk="1" hangingPunct="1">
              <a:lnSpc>
                <a:spcPct val="90000"/>
              </a:lnSpc>
              <a:buFontTx/>
              <a:buBlip>
                <a:blip r:embed="rId3"/>
              </a:buBlip>
              <a:defRPr/>
            </a:pPr>
            <a:r>
              <a:rPr lang="en-CA" altLang="en-US" dirty="0"/>
              <a:t>Technical</a:t>
            </a:r>
          </a:p>
          <a:p>
            <a:pPr marL="457200" lvl="1" indent="0" eaLnBrk="1" hangingPunct="1">
              <a:lnSpc>
                <a:spcPct val="90000"/>
              </a:lnSpc>
              <a:buFontTx/>
              <a:buNone/>
              <a:defRPr/>
            </a:pPr>
            <a:endParaRPr lang="en-CA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>
            <a:extLst>
              <a:ext uri="{FF2B5EF4-FFF2-40B4-BE49-F238E27FC236}">
                <a16:creationId xmlns:a16="http://schemas.microsoft.com/office/drawing/2014/main" id="{8D0C9FE4-73F1-F33F-E9A7-707288960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EF9BAC6-991B-4BFE-A890-4A06CAE552AA}" type="slidenum">
              <a:rPr lang="en-CA" altLang="en-US"/>
              <a:pPr/>
              <a:t>8</a:t>
            </a:fld>
            <a:endParaRPr lang="en-CA" altLang="en-US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3565CD3B-F279-4DDB-128C-24352764E7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 w="19050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CA" altLang="en-US"/>
              <a:t>Technical skills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ADD40B7-9048-7C37-9D6B-062A290C7B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Blip>
                <a:blip r:embed="rId2"/>
              </a:buBlip>
            </a:pPr>
            <a:r>
              <a:rPr lang="en-CA" altLang="en-US"/>
              <a:t>The ability to apply specialized knowledge or expertise in a particular field.</a:t>
            </a:r>
          </a:p>
          <a:p>
            <a:pPr eaLnBrk="1" hangingPunct="1">
              <a:lnSpc>
                <a:spcPct val="90000"/>
              </a:lnSpc>
              <a:buFontTx/>
              <a:buBlip>
                <a:blip r:embed="rId2"/>
              </a:buBlip>
            </a:pPr>
            <a:r>
              <a:rPr lang="en-CA" altLang="en-US"/>
              <a:t>Specific abilities that people use to perform their jobs.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03E77521-730B-0D46-D0FC-15800A63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E3B00F5-888A-461D-B06B-C4184A4FAA0D}" type="slidenum">
              <a:rPr lang="en-CA" altLang="en-US"/>
              <a:pPr/>
              <a:t>9</a:t>
            </a:fld>
            <a:endParaRPr lang="en-CA" altLang="en-US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B83CD92E-040D-D8D5-A3C2-C3148E1FF6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 w="19050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CA" altLang="en-US"/>
              <a:t>Interpersonal skills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61B34D1-C4D0-0E6F-4681-50774604BD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Blip>
                <a:blip r:embed="rId2"/>
              </a:buBlip>
            </a:pPr>
            <a:r>
              <a:rPr lang="en-CA" altLang="en-US"/>
              <a:t>The ability to work with, understand, mentor, and motivate other people.</a:t>
            </a:r>
          </a:p>
          <a:p>
            <a:pPr eaLnBrk="1" hangingPunct="1">
              <a:buFontTx/>
              <a:buBlip>
                <a:blip r:embed="rId2"/>
              </a:buBlip>
            </a:pPr>
            <a:r>
              <a:rPr lang="en-CA" altLang="en-US"/>
              <a:t>Interviewing job applicants, forming partnerships with other businesses, and resolving conflicts all require these skills.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>
            <a:extLst>
              <a:ext uri="{FF2B5EF4-FFF2-40B4-BE49-F238E27FC236}">
                <a16:creationId xmlns:a16="http://schemas.microsoft.com/office/drawing/2014/main" id="{14CA4B97-C6FC-3A1E-B297-71F6DA0C5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265DF31-766B-465E-A21F-6BD29D89D2B2}" type="slidenum">
              <a:rPr lang="en-CA" altLang="en-US"/>
              <a:pPr/>
              <a:t>10</a:t>
            </a:fld>
            <a:endParaRPr lang="en-CA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514DE321-F2B0-1D91-24E0-76933A8475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 w="19050"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CA" altLang="en-US">
                <a:solidFill>
                  <a:srgbClr val="FF0000"/>
                </a:solidFill>
              </a:rPr>
              <a:t>Conceptual skills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EFC69BD-3CC3-4346-90E2-7F85675B53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Blip>
                <a:blip r:embed="rId2"/>
              </a:buBlip>
            </a:pPr>
            <a:r>
              <a:rPr lang="en-CA" altLang="en-US" sz="2800"/>
              <a:t>The mental ability to analyze and diagnose situations.</a:t>
            </a:r>
          </a:p>
          <a:p>
            <a:pPr eaLnBrk="1" hangingPunct="1">
              <a:buFontTx/>
              <a:buBlip>
                <a:blip r:embed="rId2"/>
              </a:buBlip>
            </a:pPr>
            <a:r>
              <a:rPr lang="en-CA" altLang="en-US" sz="2800"/>
              <a:t>The skills that help managers understand how different parts of a business relate to one another and to the business as a whole.</a:t>
            </a:r>
          </a:p>
          <a:p>
            <a:pPr eaLnBrk="1" hangingPunct="1">
              <a:buFontTx/>
              <a:buBlip>
                <a:blip r:embed="rId2"/>
              </a:buBlip>
            </a:pPr>
            <a:r>
              <a:rPr lang="en-CA" altLang="en-US" sz="2800"/>
              <a:t>Decision making, planning, and organizing require these skills.</a:t>
            </a:r>
          </a:p>
          <a:p>
            <a:pPr eaLnBrk="1" hangingPunct="1">
              <a:buFontTx/>
              <a:buBlip>
                <a:blip r:embed="rId2"/>
              </a:buBlip>
            </a:pPr>
            <a:r>
              <a:rPr lang="en-CA" altLang="en-US" sz="2800"/>
              <a:t>The manager should be able to see the organisation as a whole.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BDF53"/>
      </a:accent1>
      <a:accent2>
        <a:srgbClr val="FF9966"/>
      </a:accent2>
      <a:accent3>
        <a:srgbClr val="FFFFFF"/>
      </a:accent3>
      <a:accent4>
        <a:srgbClr val="000000"/>
      </a:accent4>
      <a:accent5>
        <a:srgbClr val="FDECB3"/>
      </a:accent5>
      <a:accent6>
        <a:srgbClr val="E78A5C"/>
      </a:accent6>
      <a:hlink>
        <a:srgbClr val="CC3300"/>
      </a:hlink>
      <a:folHlink>
        <a:srgbClr val="9966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3763</TotalTime>
  <Words>453</Words>
  <Application>Microsoft Office PowerPoint</Application>
  <PresentationFormat>On-screen Show (4:3)</PresentationFormat>
  <Paragraphs>77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Default Design</vt:lpstr>
      <vt:lpstr>MANAGEMENT ROLES and SKILLS</vt:lpstr>
      <vt:lpstr>Define “role”</vt:lpstr>
      <vt:lpstr>Mintzberg’s Managerial Roles</vt:lpstr>
      <vt:lpstr>PowerPoint Presentation</vt:lpstr>
      <vt:lpstr>PowerPoint Presentation</vt:lpstr>
      <vt:lpstr>PowerPoint Presentation</vt:lpstr>
      <vt:lpstr>MANAGEMENT SKILLS</vt:lpstr>
      <vt:lpstr>Technical skills</vt:lpstr>
      <vt:lpstr>Interpersonal skills</vt:lpstr>
      <vt:lpstr>Conceptual skills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MANAGEMENT ROLES</dc:title>
  <dc:creator>John</dc:creator>
  <cp:lastModifiedBy>voster mukobela</cp:lastModifiedBy>
  <cp:revision>25</cp:revision>
  <dcterms:created xsi:type="dcterms:W3CDTF">2010-02-01T02:55:12Z</dcterms:created>
  <dcterms:modified xsi:type="dcterms:W3CDTF">2023-08-18T12:44:08Z</dcterms:modified>
</cp:coreProperties>
</file>